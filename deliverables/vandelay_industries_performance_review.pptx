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isk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94360"/>
            <a:ext cx="255135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2545"/>
                </a:solidFill>
                <a:latin typeface="Calibri"/>
              </a:rPr>
              <a:t>Vandelay Industries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E6FB7"/>
                </a:solidFill>
                <a:latin typeface="Calibri"/>
              </a:rPr>
              <a:t>Merchant Performance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251960"/>
            <a:ext cx="2377440" cy="381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Post authorization   ·   Enterprise   ·   2025-07 – 2026-06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37376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Prepared by Riskified Customer Success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Calibri"/>
              </a:rPr>
              <a:t>Executive Summary</a:t>
            </a:r>
          </a:p>
        </p:txBody>
      </p:sp>
      <p:pic>
        <p:nvPicPr>
          <p:cNvPr id="3" name="Picture 2" descr="risk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20040"/>
            <a:ext cx="956756" cy="274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371600"/>
            <a:ext cx="2567178" cy="10515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Submission Volume</a:t>
            </a:r>
          </a:p>
          <a:p>
            <a:r>
              <a:rPr sz="2000" b="1">
                <a:solidFill>
                  <a:srgbClr val="0B2545"/>
                </a:solidFill>
                <a:latin typeface="Calibri"/>
              </a:rPr>
              <a:t>5,185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▼ -9.6% since 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90138" y="1371600"/>
            <a:ext cx="2567178" cy="10515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Approval Rate</a:t>
            </a:r>
          </a:p>
          <a:p>
            <a:r>
              <a:rPr sz="2000" b="1">
                <a:solidFill>
                  <a:srgbClr val="1B998B"/>
                </a:solidFill>
                <a:latin typeface="Calibri"/>
              </a:rPr>
              <a:t>98.82%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▲ +0.3% since 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1636" y="1371600"/>
            <a:ext cx="2567178" cy="10515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Accepted Chargeback Rate</a:t>
            </a:r>
          </a:p>
          <a:p>
            <a:r>
              <a:rPr sz="2000" b="1">
                <a:solidFill>
                  <a:srgbClr val="D7263D"/>
                </a:solidFill>
                <a:latin typeface="Calibri"/>
              </a:rPr>
              <a:t>0.11%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▲ +17.1% since 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73134" y="1371600"/>
            <a:ext cx="2567178" cy="10515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Effective Fraud Rate</a:t>
            </a:r>
          </a:p>
          <a:p>
            <a:r>
              <a:rPr sz="2000" b="1">
                <a:solidFill>
                  <a:srgbClr val="D7263D"/>
                </a:solidFill>
                <a:latin typeface="Calibri"/>
              </a:rPr>
              <a:t>2.08%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▲ +13.8% since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•  Submission volume declined 9.6% over the review period, with a notable dip in 2026-05 coinciding with a Low Volume event.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•  Approval rate improved modestly by +0.3 percentage points, reaching its period-best of 98.82% in 2026-06.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•  Accepted Chargeback Rate edged up 17.1% on a count basis, moving from 0.10% to 0.11%, warranting continued monitoring.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•  Effective Fraud Rate worsened by 13.8% over the period, rising to 2.08% in 2026-06, with elevated readings coinciding with a High Fraud event in 2025-11.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•  Overall, approval performance is trending positively while fraud-related metrics signal an area of focus heading into the next period.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Calibri"/>
              </a:rPr>
              <a:t>Submission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transaction volume</a:t>
            </a:r>
          </a:p>
        </p:txBody>
      </p:sp>
      <p:pic>
        <p:nvPicPr>
          <p:cNvPr id="4" name="Picture 3" descr="risk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20040"/>
            <a:ext cx="956756" cy="274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325880"/>
            <a:ext cx="3514344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Latest</a:t>
            </a:r>
          </a:p>
          <a:p>
            <a:r>
              <a:rPr sz="2000" b="1">
                <a:solidFill>
                  <a:srgbClr val="0B2545"/>
                </a:solidFill>
                <a:latin typeface="Calibri"/>
              </a:rPr>
              <a:t>5,185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2026-06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7304" y="1325880"/>
            <a:ext cx="3514344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Change since start</a:t>
            </a:r>
          </a:p>
          <a:p>
            <a:r>
              <a:rPr sz="2000" b="1">
                <a:solidFill>
                  <a:srgbClr val="0B2545"/>
                </a:solidFill>
                <a:latin typeface="Calibri"/>
              </a:rPr>
              <a:t>-9.6%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vs first 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5968" y="1325880"/>
            <a:ext cx="3514344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Latest quarter</a:t>
            </a:r>
          </a:p>
          <a:p>
            <a:r>
              <a:rPr sz="2000" b="1">
                <a:solidFill>
                  <a:srgbClr val="0B2545"/>
                </a:solidFill>
                <a:latin typeface="Calibri"/>
              </a:rPr>
              <a:t>15,398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2026-Q2</a:t>
            </a:r>
          </a:p>
        </p:txBody>
      </p:sp>
      <p:pic>
        <p:nvPicPr>
          <p:cNvPr id="8" name="Picture 7" descr="submission_volume_month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14600"/>
            <a:ext cx="5394960" cy="2825931"/>
          </a:xfrm>
          <a:prstGeom prst="rect">
            <a:avLst/>
          </a:prstGeom>
        </p:spPr>
      </p:pic>
      <p:pic>
        <p:nvPicPr>
          <p:cNvPr id="9" name="Picture 8" descr="submission_volume_quarter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514600"/>
            <a:ext cx="5394960" cy="28259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4406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Submission volume opened at 5,735 transactions in 2025-07 and closed at 5,185 in 2026-06, reflecting a 9.6% decline over the review period. The period peak of 6,900 was reached in 2025-08, coinciding with a Strong Growth event, while the trough of 4,485 in 2026-05 coincides with a noted Low Volume event. The overall trend is broadly flat with identifiable peaks and troughs, suggesting volume is sensitive to specific business or seasonal drivers worth tracking going forward.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Calibri"/>
              </a:rPr>
              <a:t>Approval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higher is better</a:t>
            </a:r>
          </a:p>
        </p:txBody>
      </p:sp>
      <p:pic>
        <p:nvPicPr>
          <p:cNvPr id="4" name="Picture 3" descr="risk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20040"/>
            <a:ext cx="956756" cy="274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325880"/>
            <a:ext cx="3514344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Latest</a:t>
            </a:r>
          </a:p>
          <a:p>
            <a:r>
              <a:rPr sz="2000" b="1">
                <a:solidFill>
                  <a:srgbClr val="1B998B"/>
                </a:solidFill>
                <a:latin typeface="Calibri"/>
              </a:rPr>
              <a:t>98.82%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2026-06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7304" y="1325880"/>
            <a:ext cx="3514344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Change since start</a:t>
            </a:r>
          </a:p>
          <a:p>
            <a:r>
              <a:rPr sz="2000" b="1">
                <a:solidFill>
                  <a:srgbClr val="1B998B"/>
                </a:solidFill>
                <a:latin typeface="Calibri"/>
              </a:rPr>
              <a:t>+0.3%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vs first 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5968" y="1325880"/>
            <a:ext cx="3514344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Latest quarter</a:t>
            </a:r>
          </a:p>
          <a:p>
            <a:r>
              <a:rPr sz="2000" b="1">
                <a:solidFill>
                  <a:srgbClr val="0B2545"/>
                </a:solidFill>
                <a:latin typeface="Calibri"/>
              </a:rPr>
              <a:t>98.04%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2026-Q2</a:t>
            </a:r>
          </a:p>
        </p:txBody>
      </p:sp>
      <p:pic>
        <p:nvPicPr>
          <p:cNvPr id="8" name="Picture 7" descr="approval_rate_month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14600"/>
            <a:ext cx="5394960" cy="2825931"/>
          </a:xfrm>
          <a:prstGeom prst="rect">
            <a:avLst/>
          </a:prstGeom>
        </p:spPr>
      </p:pic>
      <p:pic>
        <p:nvPicPr>
          <p:cNvPr id="9" name="Picture 8" descr="approval_rate_quarter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514600"/>
            <a:ext cx="5394960" cy="28259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4406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Approval rate showed a positive trajectory over the review period, improving by +0.3 percentage points from 98.50% in 2025-07 to a period-best of 98.82% in 2026-06. The period low of 96.39% occurred in 2025-08, which coincides with the Strong Growth event, suggesting that the surge in submission volume that month may have introduced a more varied order mix. The recovery and sustained improvement since then is an encouraging sign for the health of Vandelay Industries' approved transaction 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Calibri"/>
              </a:rPr>
              <a:t>Accepted Chargeback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lower is better</a:t>
            </a:r>
          </a:p>
        </p:txBody>
      </p:sp>
      <p:pic>
        <p:nvPicPr>
          <p:cNvPr id="4" name="Picture 3" descr="risk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20040"/>
            <a:ext cx="956756" cy="274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325880"/>
            <a:ext cx="3514344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Latest</a:t>
            </a:r>
          </a:p>
          <a:p>
            <a:r>
              <a:rPr sz="2000" b="1">
                <a:solidFill>
                  <a:srgbClr val="D7263D"/>
                </a:solidFill>
                <a:latin typeface="Calibri"/>
              </a:rPr>
              <a:t>0.11%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2026-06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7304" y="1325880"/>
            <a:ext cx="3514344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Change since start</a:t>
            </a:r>
          </a:p>
          <a:p>
            <a:r>
              <a:rPr sz="2000" b="1">
                <a:solidFill>
                  <a:srgbClr val="D7263D"/>
                </a:solidFill>
                <a:latin typeface="Calibri"/>
              </a:rPr>
              <a:t>+17.1%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vs first 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5968" y="1325880"/>
            <a:ext cx="3514344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Latest quarter</a:t>
            </a:r>
          </a:p>
          <a:p>
            <a:r>
              <a:rPr sz="2000" b="1">
                <a:solidFill>
                  <a:srgbClr val="0B2545"/>
                </a:solidFill>
                <a:latin typeface="Calibri"/>
              </a:rPr>
              <a:t>0.12%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2026-Q2</a:t>
            </a:r>
          </a:p>
        </p:txBody>
      </p:sp>
      <p:pic>
        <p:nvPicPr>
          <p:cNvPr id="8" name="Picture 7" descr="accepted_chargeback_rate_month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14600"/>
            <a:ext cx="5394960" cy="2825931"/>
          </a:xfrm>
          <a:prstGeom prst="rect">
            <a:avLst/>
          </a:prstGeom>
        </p:spPr>
      </p:pic>
      <p:pic>
        <p:nvPicPr>
          <p:cNvPr id="9" name="Picture 8" descr="accepted_chargeback_rate_quarter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514600"/>
            <a:ext cx="5394960" cy="28259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4406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The Accepted Chargeback Rate increased by 17.1% on a count basis, moving from 0.10% in 2025-07 to 0.11% in 2026-06, indicating a gradual worsening trend over the period. Notably, the period's best reading of 0.12% was recorded in 2026-04, while the lowest rate of 0.07% was seen in 2025-10, pointing to some variability across months. Although the absolute rate remains low, the directional trend warrants close attention to ensure it does not continue to climb in the coming period.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Calibri"/>
              </a:rPr>
              <a:t>Effective Fraud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lower is better</a:t>
            </a:r>
          </a:p>
        </p:txBody>
      </p:sp>
      <p:pic>
        <p:nvPicPr>
          <p:cNvPr id="4" name="Picture 3" descr="risk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20040"/>
            <a:ext cx="956756" cy="274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325880"/>
            <a:ext cx="3514344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Latest</a:t>
            </a:r>
          </a:p>
          <a:p>
            <a:r>
              <a:rPr sz="2000" b="1">
                <a:solidFill>
                  <a:srgbClr val="D7263D"/>
                </a:solidFill>
                <a:latin typeface="Calibri"/>
              </a:rPr>
              <a:t>2.08%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2026-06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7304" y="1325880"/>
            <a:ext cx="3514344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Change since start</a:t>
            </a:r>
          </a:p>
          <a:p>
            <a:r>
              <a:rPr sz="2000" b="1">
                <a:solidFill>
                  <a:srgbClr val="D7263D"/>
                </a:solidFill>
                <a:latin typeface="Calibri"/>
              </a:rPr>
              <a:t>+13.8%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vs first 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5968" y="1325880"/>
            <a:ext cx="3514344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Latest quarter</a:t>
            </a:r>
          </a:p>
          <a:p>
            <a:r>
              <a:rPr sz="2000" b="1">
                <a:solidFill>
                  <a:srgbClr val="0B2545"/>
                </a:solidFill>
                <a:latin typeface="Calibri"/>
              </a:rPr>
              <a:t>1.83%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2026-Q2</a:t>
            </a:r>
          </a:p>
        </p:txBody>
      </p:sp>
      <p:pic>
        <p:nvPicPr>
          <p:cNvPr id="8" name="Picture 7" descr="effective_fraud_rate_month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14600"/>
            <a:ext cx="5394960" cy="2825931"/>
          </a:xfrm>
          <a:prstGeom prst="rect">
            <a:avLst/>
          </a:prstGeom>
        </p:spPr>
      </p:pic>
      <p:pic>
        <p:nvPicPr>
          <p:cNvPr id="9" name="Picture 8" descr="effective_fraud_rate_quarter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514600"/>
            <a:ext cx="5394960" cy="28259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4406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The Effective Fraud Rate worsened by 13.8% over the review period, rising from 1.83% in 2025-07 to 2.08% in 2026-06. The period's most elevated reading of 2.16% occurred in 2025-11, which coincides with a High Fraud event, consistent with a broader increase in fraudulent activity at that time. The rate has remained above its opening level since then, suggesting the elevated fraud environment observed mid-period may not have fully subsided. This metric is a priority area to monitor and address collaboratively in the next review cycle.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Calibri"/>
              </a:rPr>
              <a:t>Notes &amp; Methodology</a:t>
            </a:r>
          </a:p>
        </p:txBody>
      </p:sp>
      <p:pic>
        <p:nvPicPr>
          <p:cNvPr id="3" name="Picture 2" descr="risk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20040"/>
            <a:ext cx="95675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6B7280"/>
                </a:solidFill>
                <a:latin typeface="Calibri"/>
              </a:rPr>
              <a:t>•  This deck uses the count-based (transaction-volume) view.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B7280"/>
                </a:solidFill>
                <a:latin typeface="Calibri"/>
              </a:rPr>
              <a:t>•  Charts annotate notable evidence events from the period.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