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255135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2545"/>
                </a:solidFill>
                <a:latin typeface="Calibri"/>
              </a:rPr>
              <a:t>Cyberdyne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E6FB7"/>
                </a:solidFill>
                <a:latin typeface="Calibri"/>
              </a:rPr>
              <a:t>Merchant Performance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251960"/>
            <a:ext cx="2377440" cy="381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Calibri"/>
              </a:rPr>
              <a:t>Pre authorization   ·   Strategic   ·   2025-07 – 2026-06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3737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Prepared by Riskified Customer Success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Calibri"/>
              </a:rPr>
              <a:t>Executive Summary</a:t>
            </a:r>
          </a:p>
        </p:txBody>
      </p:sp>
      <p:pic>
        <p:nvPicPr>
          <p:cNvPr id="3" name="Picture 2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956756" cy="274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1371600"/>
            <a:ext cx="2567178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Submission Volume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2,961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▲ +6.5% since 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90138" y="1371600"/>
            <a:ext cx="2567178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Approval Rate</a:t>
            </a:r>
          </a:p>
          <a:p>
            <a:r>
              <a:rPr sz="2000" b="1">
                <a:solidFill>
                  <a:srgbClr val="1B998B"/>
                </a:solidFill>
                <a:latin typeface="Calibri"/>
              </a:rPr>
              <a:t>98.05%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▲ +1.4% since 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6" y="1371600"/>
            <a:ext cx="2567178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Accepted Chargeback Rate</a:t>
            </a:r>
          </a:p>
          <a:p>
            <a:r>
              <a:rPr sz="2000" b="1">
                <a:solidFill>
                  <a:srgbClr val="1B998B"/>
                </a:solidFill>
                <a:latin typeface="Calibri"/>
              </a:rPr>
              <a:t>0.21%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▼ -1.8% since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73134" y="1371600"/>
            <a:ext cx="2567178" cy="105156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Effective Fraud Rate</a:t>
            </a:r>
          </a:p>
          <a:p>
            <a:r>
              <a:rPr sz="2000" b="1">
                <a:solidFill>
                  <a:srgbClr val="1B998B"/>
                </a:solidFill>
                <a:latin typeface="Calibri"/>
              </a:rPr>
              <a:t>3.48%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▼ -3.3% since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69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•  Submission volume grew +6.5% by transaction count over the review period, though submitted value edged down -1.1%, reflecting a shift toward lower-value orders.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•  Count-based approval rate improved +1.4% to 98.05%, a strong result, though amount-weighted approval rate dipped -0.4%, suggesting higher-value transactions faced relatively more declines.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•  Accepted chargeback rate held flat at 0.21% on a count basis, but the amount-weighted view rose +16.3%, coinciding with a Chargeback Spike event in 2026-05 that warrants monitoring.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•  Effective fraud rate improved -3.3% by transaction count, yet the amount-weighted rate climbed +41.6%, indicating that fraudulent activity is increasingly concentrated in higher-value orders.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•  Two High Fraud events (2025-10, 2026-03) and a Chargeback Spike (2026-05) punctuate the period and are consistent with the divergence seen between count- and amount-weighted fraud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Submission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transaction volume</a:t>
            </a:r>
          </a:p>
        </p:txBody>
      </p:sp>
      <p:pic>
        <p:nvPicPr>
          <p:cNvPr id="4" name="Picture 3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956756" cy="274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2,961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0138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Change since start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+6.5%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vs first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 quarter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8,085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2026-Q2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73134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Submitted value</a:t>
            </a:r>
          </a:p>
          <a:p>
            <a:r>
              <a:rPr sz="2000" b="1">
                <a:solidFill>
                  <a:srgbClr val="2E6FB7"/>
                </a:solidFill>
                <a:latin typeface="Calibri"/>
              </a:rPr>
              <a:t>$2,836,579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2026-06</a:t>
            </a:r>
          </a:p>
        </p:txBody>
      </p:sp>
      <p:pic>
        <p:nvPicPr>
          <p:cNvPr id="9" name="Picture 8" descr="submission_volume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5394960" cy="2825931"/>
          </a:xfrm>
          <a:prstGeom prst="rect">
            <a:avLst/>
          </a:prstGeom>
        </p:spPr>
      </p:pic>
      <p:pic>
        <p:nvPicPr>
          <p:cNvPr id="10" name="Picture 9" descr="submission_volume_quarter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14600"/>
            <a:ext cx="5394960" cy="28259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440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Transaction count grew +6.5% from 2,780 in 2025-07 to 2,961 in 2026-06, with a peak of 2,989 in 2025-10 and a notable trough of 2,128 in 2025-08, which coincides with a Low Volume event recorded that month. Submitted value, however, moved in the opposite direction, declining -1.1% from $2,867,208 to $2,836,579, suggesting the incremental volume growth is concentrated in relatively lower-value transactions. This divergence between count and value trends is worth tracking to understand any evolving shifts in order mix.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Approval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higher is better</a:t>
            </a:r>
          </a:p>
        </p:txBody>
      </p:sp>
      <p:pic>
        <p:nvPicPr>
          <p:cNvPr id="4" name="Picture 3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956756" cy="274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</a:t>
            </a:r>
          </a:p>
          <a:p>
            <a:r>
              <a:rPr sz="2000" b="1">
                <a:solidFill>
                  <a:srgbClr val="1B998B"/>
                </a:solidFill>
                <a:latin typeface="Calibri"/>
              </a:rPr>
              <a:t>98.05%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0138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Change since start</a:t>
            </a:r>
          </a:p>
          <a:p>
            <a:r>
              <a:rPr sz="2000" b="1">
                <a:solidFill>
                  <a:srgbClr val="1B998B"/>
                </a:solidFill>
                <a:latin typeface="Calibri"/>
              </a:rPr>
              <a:t>+1.4%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vs first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 quarter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98.46%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2026-Q2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73134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Amount-weighted latest</a:t>
            </a:r>
          </a:p>
          <a:p>
            <a:r>
              <a:rPr sz="2000" b="1">
                <a:solidFill>
                  <a:srgbClr val="2E6FB7"/>
                </a:solidFill>
                <a:latin typeface="Calibri"/>
              </a:rPr>
              <a:t>95.60%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2026-06</a:t>
            </a:r>
          </a:p>
        </p:txBody>
      </p:sp>
      <p:pic>
        <p:nvPicPr>
          <p:cNvPr id="9" name="Picture 8" descr="approval_rate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5394960" cy="2825931"/>
          </a:xfrm>
          <a:prstGeom prst="rect">
            <a:avLst/>
          </a:prstGeom>
        </p:spPr>
      </p:pic>
      <p:pic>
        <p:nvPicPr>
          <p:cNvPr id="10" name="Picture 9" descr="approval_rate_quarter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14600"/>
            <a:ext cx="5394960" cy="28259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440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Count-based approval rate improved +1.4% over the period, rising from 96.69% in 2025-07 to 98.05% in 2026-06, with a high of 99.16% reached in 2025-11. The low point of 96.24% in 2026-03 coincides with a High Fraud event that month, which is consistent with a more cautious decisioning environment during elevated fraud activity. The amount-weighted approval rate tells a more nuanced story, declining -0.4% from 96.01% to 95.60%, suggesting that higher-value transactions are being approved at a modestly lower rate than the broader transaction population.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Accepted Chargeback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lower is better</a:t>
            </a:r>
          </a:p>
        </p:txBody>
      </p:sp>
      <p:pic>
        <p:nvPicPr>
          <p:cNvPr id="4" name="Picture 3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956756" cy="274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</a:t>
            </a:r>
          </a:p>
          <a:p>
            <a:r>
              <a:rPr sz="2000" b="1">
                <a:solidFill>
                  <a:srgbClr val="1B998B"/>
                </a:solidFill>
                <a:latin typeface="Calibri"/>
              </a:rPr>
              <a:t>0.21%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0138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Change since start</a:t>
            </a:r>
          </a:p>
          <a:p>
            <a:r>
              <a:rPr sz="2000" b="1">
                <a:solidFill>
                  <a:srgbClr val="1B998B"/>
                </a:solidFill>
                <a:latin typeface="Calibri"/>
              </a:rPr>
              <a:t>-1.8%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vs first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 quarter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0.26%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2026-Q2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73134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Amount-weighted latest</a:t>
            </a:r>
          </a:p>
          <a:p>
            <a:r>
              <a:rPr sz="2000" b="1">
                <a:solidFill>
                  <a:srgbClr val="2E6FB7"/>
                </a:solidFill>
                <a:latin typeface="Calibri"/>
              </a:rPr>
              <a:t>0.16%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2026-06</a:t>
            </a:r>
          </a:p>
        </p:txBody>
      </p:sp>
      <p:pic>
        <p:nvPicPr>
          <p:cNvPr id="9" name="Picture 8" descr="accepted_chargeback_rate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5394960" cy="2825931"/>
          </a:xfrm>
          <a:prstGeom prst="rect">
            <a:avLst/>
          </a:prstGeom>
        </p:spPr>
      </p:pic>
      <p:pic>
        <p:nvPicPr>
          <p:cNvPr id="10" name="Picture 9" descr="accepted_chargeback_rate_quarter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14600"/>
            <a:ext cx="5394960" cy="28259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440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On a count basis, the accepted chargeback rate remained stable at 0.21% from the start to the end of the period, reflecting a -1.8% improvement overall. However, the amount-weighted rate increased +16.3%, moving from 0.13% to 0.16%, which may indicate that chargebacks are occurring on higher-value transactions with greater frequency. The 2026-05 Chargeback Spike event coincides with the worst count-based reading of 0.42% that month, and continued vigilance around high-value order chargebacks is advisable going forward.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545"/>
                </a:solidFill>
                <a:latin typeface="Calibri"/>
              </a:rPr>
              <a:t>Effective Fraud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lower is better</a:t>
            </a:r>
          </a:p>
        </p:txBody>
      </p:sp>
      <p:pic>
        <p:nvPicPr>
          <p:cNvPr id="4" name="Picture 3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956756" cy="274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</a:t>
            </a:r>
          </a:p>
          <a:p>
            <a:r>
              <a:rPr sz="2000" b="1">
                <a:solidFill>
                  <a:srgbClr val="1B998B"/>
                </a:solidFill>
                <a:latin typeface="Calibri"/>
              </a:rPr>
              <a:t>3.48%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0138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Change since start</a:t>
            </a:r>
          </a:p>
          <a:p>
            <a:r>
              <a:rPr sz="2000" b="1">
                <a:solidFill>
                  <a:srgbClr val="1B998B"/>
                </a:solidFill>
                <a:latin typeface="Calibri"/>
              </a:rPr>
              <a:t>-3.3%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vs first 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Latest quarter</a:t>
            </a:r>
          </a:p>
          <a:p>
            <a:r>
              <a:rPr sz="2000" b="1">
                <a:solidFill>
                  <a:srgbClr val="0B2545"/>
                </a:solidFill>
                <a:latin typeface="Calibri"/>
              </a:rPr>
              <a:t>3.20%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2026-Q2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73134" y="1325880"/>
            <a:ext cx="2567178" cy="914400"/>
          </a:xfrm>
          <a:prstGeom prst="round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 bIns="54864"/>
          <a:lstStyle/>
          <a:p>
            <a:pPr algn="ctr"/>
            <a:r>
              <a:rPr sz="1000" b="1">
                <a:solidFill>
                  <a:srgbClr val="6B7280"/>
                </a:solidFill>
                <a:latin typeface="Calibri"/>
              </a:rPr>
              <a:t>Amount-weighted latest</a:t>
            </a:r>
          </a:p>
          <a:p>
            <a:r>
              <a:rPr sz="2000" b="1">
                <a:solidFill>
                  <a:srgbClr val="2E6FB7"/>
                </a:solidFill>
                <a:latin typeface="Calibri"/>
              </a:rPr>
              <a:t>4.56%</a:t>
            </a:r>
          </a:p>
          <a:p>
            <a:r>
              <a:rPr sz="1000">
                <a:solidFill>
                  <a:srgbClr val="6B7280"/>
                </a:solidFill>
                <a:latin typeface="Calibri"/>
              </a:rPr>
              <a:t>2026-06</a:t>
            </a:r>
          </a:p>
        </p:txBody>
      </p:sp>
      <p:pic>
        <p:nvPicPr>
          <p:cNvPr id="9" name="Picture 8" descr="effective_fraud_rate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5394960" cy="2825931"/>
          </a:xfrm>
          <a:prstGeom prst="rect">
            <a:avLst/>
          </a:prstGeom>
        </p:spPr>
      </p:pic>
      <p:pic>
        <p:nvPicPr>
          <p:cNvPr id="10" name="Picture 9" descr="effective_fraud_rate_quarter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14600"/>
            <a:ext cx="5394960" cy="28259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4406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The count-based effective fraud rate improved -3.3% over the review period, declining from 3.60% to 3.48%, with the best result of 2.91% recorded in 2026-05. Despite this positive trend at the transaction level, the amount-weighted effective fraud rate rose sharply by +41.6%, from 3.22% to 4.56%, suggesting that fraud attempts are increasingly concentrated among higher-value orders. The High Fraud events in 2025-10 and 2026-03 coincide with periods of elevated pressure and are consistent with the volatility observed in the amount-weighted metric across the period.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Calibri"/>
              </a:rPr>
              <a:t>Notes &amp; Methodology</a:t>
            </a:r>
          </a:p>
        </p:txBody>
      </p:sp>
      <p:pic>
        <p:nvPicPr>
          <p:cNvPr id="3" name="Picture 2" descr="risk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320040"/>
            <a:ext cx="956756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•  Count-based view: KPIs by transaction volume (number of orders).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•  Amount-weighted view: KPIs weighted by submitted order value (Submission Volume is shown in dollars).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•  Charts annotate notable evidence events from the period.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