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iskified_logo.png"/>
          <p:cNvPicPr>
            <a:picLocks noChangeAspect="1"/>
          </p:cNvPicPr>
          <p:nvPr/>
        </p:nvPicPr>
        <p:blipFill>
          <a:blip r:embed="rId2"/>
          <a:stretch>
            <a:fillRect/>
          </a:stretch>
        </p:blipFill>
        <p:spPr>
          <a:xfrm>
            <a:off x="731520" y="594360"/>
            <a:ext cx="2551350" cy="731520"/>
          </a:xfrm>
          <a:prstGeom prst="rect">
            <a:avLst/>
          </a:prstGeom>
        </p:spPr>
      </p:pic>
      <p:sp>
        <p:nvSpPr>
          <p:cNvPr id="3" name="TextBox 2"/>
          <p:cNvSpPr txBox="1"/>
          <p:nvPr/>
        </p:nvSpPr>
        <p:spPr>
          <a:xfrm>
            <a:off x="731520" y="2468880"/>
            <a:ext cx="10698480" cy="1097280"/>
          </a:xfrm>
          <a:prstGeom prst="rect">
            <a:avLst/>
          </a:prstGeom>
          <a:noFill/>
        </p:spPr>
        <p:txBody>
          <a:bodyPr wrap="square">
            <a:spAutoFit/>
          </a:bodyPr>
          <a:lstStyle/>
          <a:p>
            <a:pPr algn="l"/>
            <a:r>
              <a:rPr sz="4000" b="1">
                <a:solidFill>
                  <a:srgbClr val="0B2545"/>
                </a:solidFill>
                <a:latin typeface="Calibri"/>
              </a:rPr>
              <a:t>ACME</a:t>
            </a:r>
          </a:p>
        </p:txBody>
      </p:sp>
      <p:sp>
        <p:nvSpPr>
          <p:cNvPr id="4" name="TextBox 3"/>
          <p:cNvSpPr txBox="1"/>
          <p:nvPr/>
        </p:nvSpPr>
        <p:spPr>
          <a:xfrm>
            <a:off x="731520" y="3474720"/>
            <a:ext cx="10698480" cy="731520"/>
          </a:xfrm>
          <a:prstGeom prst="rect">
            <a:avLst/>
          </a:prstGeom>
          <a:noFill/>
        </p:spPr>
        <p:txBody>
          <a:bodyPr wrap="square">
            <a:spAutoFit/>
          </a:bodyPr>
          <a:lstStyle/>
          <a:p>
            <a:pPr algn="l"/>
            <a:r>
              <a:rPr sz="2400" b="0">
                <a:solidFill>
                  <a:srgbClr val="2E6FB7"/>
                </a:solidFill>
                <a:latin typeface="Calibri"/>
              </a:rPr>
              <a:t>Merchant Performance Review</a:t>
            </a:r>
          </a:p>
        </p:txBody>
      </p:sp>
      <p:sp>
        <p:nvSpPr>
          <p:cNvPr id="5" name="Rectangle 4"/>
          <p:cNvSpPr/>
          <p:nvPr/>
        </p:nvSpPr>
        <p:spPr>
          <a:xfrm>
            <a:off x="777240" y="4251960"/>
            <a:ext cx="2377440" cy="38100"/>
          </a:xfrm>
          <a:prstGeom prst="rect">
            <a:avLst/>
          </a:prstGeom>
          <a:solidFill>
            <a:srgbClr val="1B99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480560"/>
            <a:ext cx="10698480" cy="548640"/>
          </a:xfrm>
          <a:prstGeom prst="rect">
            <a:avLst/>
          </a:prstGeom>
          <a:noFill/>
        </p:spPr>
        <p:txBody>
          <a:bodyPr wrap="square">
            <a:spAutoFit/>
          </a:bodyPr>
          <a:lstStyle/>
          <a:p>
            <a:pPr algn="l"/>
            <a:r>
              <a:rPr sz="1600" b="0">
                <a:solidFill>
                  <a:srgbClr val="6B7280"/>
                </a:solidFill>
                <a:latin typeface="Calibri"/>
              </a:rPr>
              <a:t>Post authorization   ·   Strategic   ·   2025-07 – 2026-06</a:t>
            </a:r>
          </a:p>
        </p:txBody>
      </p:sp>
      <p:sp>
        <p:nvSpPr>
          <p:cNvPr id="7" name="Rectangle 6"/>
          <p:cNvSpPr/>
          <p:nvPr/>
        </p:nvSpPr>
        <p:spPr>
          <a:xfrm>
            <a:off x="0" y="6355080"/>
            <a:ext cx="12191695" cy="50292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37376"/>
            <a:ext cx="10698480" cy="365760"/>
          </a:xfrm>
          <a:prstGeom prst="rect">
            <a:avLst/>
          </a:prstGeom>
          <a:noFill/>
        </p:spPr>
        <p:txBody>
          <a:bodyPr wrap="square">
            <a:spAutoFit/>
          </a:bodyPr>
          <a:lstStyle/>
          <a:p>
            <a:pPr algn="l"/>
            <a:r>
              <a:rPr sz="1200" b="0">
                <a:solidFill>
                  <a:srgbClr val="FFFFFF"/>
                </a:solidFill>
                <a:latin typeface="Calibri"/>
              </a:rPr>
              <a:t>Prepared by Riskified Customer Success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9144000" cy="822960"/>
          </a:xfrm>
          <a:prstGeom prst="rect">
            <a:avLst/>
          </a:prstGeom>
          <a:noFill/>
        </p:spPr>
        <p:txBody>
          <a:bodyPr wrap="square">
            <a:spAutoFit/>
          </a:bodyPr>
          <a:lstStyle/>
          <a:p>
            <a:pPr algn="l"/>
            <a:r>
              <a:rPr sz="2800" b="1">
                <a:solidFill>
                  <a:srgbClr val="0B2545"/>
                </a:solidFill>
                <a:latin typeface="Calibri"/>
              </a:rPr>
              <a:t>Executive Summary</a:t>
            </a:r>
          </a:p>
        </p:txBody>
      </p:sp>
      <p:pic>
        <p:nvPicPr>
          <p:cNvPr id="3" name="Picture 2" descr="riskified_logo.png"/>
          <p:cNvPicPr>
            <a:picLocks noChangeAspect="1"/>
          </p:cNvPicPr>
          <p:nvPr/>
        </p:nvPicPr>
        <p:blipFill>
          <a:blip r:embed="rId2"/>
          <a:stretch>
            <a:fillRect/>
          </a:stretch>
        </p:blipFill>
        <p:spPr>
          <a:xfrm>
            <a:off x="11109960" y="320040"/>
            <a:ext cx="956756" cy="274320"/>
          </a:xfrm>
          <a:prstGeom prst="rect">
            <a:avLst/>
          </a:prstGeom>
        </p:spPr>
      </p:pic>
      <p:sp>
        <p:nvSpPr>
          <p:cNvPr id="4" name="Rounded Rectangle 3"/>
          <p:cNvSpPr/>
          <p:nvPr/>
        </p:nvSpPr>
        <p:spPr>
          <a:xfrm>
            <a:off x="548640" y="1371600"/>
            <a:ext cx="2567178" cy="105156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Submission Volume</a:t>
            </a:r>
          </a:p>
          <a:p>
            <a:r>
              <a:rPr sz="2000" b="1">
                <a:solidFill>
                  <a:srgbClr val="0B2545"/>
                </a:solidFill>
                <a:latin typeface="Calibri"/>
              </a:rPr>
              <a:t>4,876</a:t>
            </a:r>
          </a:p>
          <a:p>
            <a:r>
              <a:rPr sz="1000">
                <a:solidFill>
                  <a:srgbClr val="6B7280"/>
                </a:solidFill>
                <a:latin typeface="Calibri"/>
              </a:rPr>
              <a:t>▲ +6.4% since start</a:t>
            </a:r>
          </a:p>
        </p:txBody>
      </p:sp>
      <p:sp>
        <p:nvSpPr>
          <p:cNvPr id="5" name="Rounded Rectangle 4"/>
          <p:cNvSpPr/>
          <p:nvPr/>
        </p:nvSpPr>
        <p:spPr>
          <a:xfrm>
            <a:off x="3390138" y="1371600"/>
            <a:ext cx="2567178" cy="105156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Approval Rate</a:t>
            </a:r>
          </a:p>
          <a:p>
            <a:r>
              <a:rPr sz="2000" b="1">
                <a:solidFill>
                  <a:srgbClr val="1B998B"/>
                </a:solidFill>
                <a:latin typeface="Calibri"/>
              </a:rPr>
              <a:t>98.15%</a:t>
            </a:r>
          </a:p>
          <a:p>
            <a:r>
              <a:rPr sz="1000">
                <a:solidFill>
                  <a:srgbClr val="6B7280"/>
                </a:solidFill>
                <a:latin typeface="Calibri"/>
              </a:rPr>
              <a:t>▲ +1.3% since start</a:t>
            </a:r>
          </a:p>
        </p:txBody>
      </p:sp>
      <p:sp>
        <p:nvSpPr>
          <p:cNvPr id="6" name="Rounded Rectangle 5"/>
          <p:cNvSpPr/>
          <p:nvPr/>
        </p:nvSpPr>
        <p:spPr>
          <a:xfrm>
            <a:off x="6231636" y="1371600"/>
            <a:ext cx="2567178" cy="105156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Accepted Chargeback Rate</a:t>
            </a:r>
          </a:p>
          <a:p>
            <a:r>
              <a:rPr sz="2000" b="1">
                <a:solidFill>
                  <a:srgbClr val="1B998B"/>
                </a:solidFill>
                <a:latin typeface="Calibri"/>
              </a:rPr>
              <a:t>0.12%</a:t>
            </a:r>
          </a:p>
          <a:p>
            <a:r>
              <a:rPr sz="1000">
                <a:solidFill>
                  <a:srgbClr val="6B7280"/>
                </a:solidFill>
                <a:latin typeface="Calibri"/>
              </a:rPr>
              <a:t>▼ -8.9% since start</a:t>
            </a:r>
          </a:p>
        </p:txBody>
      </p:sp>
      <p:sp>
        <p:nvSpPr>
          <p:cNvPr id="7" name="Rounded Rectangle 6"/>
          <p:cNvSpPr/>
          <p:nvPr/>
        </p:nvSpPr>
        <p:spPr>
          <a:xfrm>
            <a:off x="9073134" y="1371600"/>
            <a:ext cx="2567178" cy="105156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Effective Fraud Rate</a:t>
            </a:r>
          </a:p>
          <a:p>
            <a:r>
              <a:rPr sz="2000" b="1">
                <a:solidFill>
                  <a:srgbClr val="1B998B"/>
                </a:solidFill>
                <a:latin typeface="Calibri"/>
              </a:rPr>
              <a:t>1.80%</a:t>
            </a:r>
          </a:p>
          <a:p>
            <a:r>
              <a:rPr sz="1000">
                <a:solidFill>
                  <a:srgbClr val="6B7280"/>
                </a:solidFill>
                <a:latin typeface="Calibri"/>
              </a:rPr>
              <a:t>▼ -4.9% since start</a:t>
            </a:r>
          </a:p>
        </p:txBody>
      </p:sp>
      <p:sp>
        <p:nvSpPr>
          <p:cNvPr id="8" name="TextBox 7"/>
          <p:cNvSpPr txBox="1"/>
          <p:nvPr/>
        </p:nvSpPr>
        <p:spPr>
          <a:xfrm>
            <a:off x="731520" y="2743200"/>
            <a:ext cx="10698480" cy="3657600"/>
          </a:xfrm>
          <a:prstGeom prst="rect">
            <a:avLst/>
          </a:prstGeom>
          <a:noFill/>
        </p:spPr>
        <p:txBody>
          <a:bodyPr wrap="square">
            <a:spAutoFit/>
          </a:bodyPr>
          <a:lstStyle/>
          <a:p>
            <a:pPr>
              <a:spcAft>
                <a:spcPts val="600"/>
              </a:spcAft>
            </a:pPr>
            <a:r>
              <a:rPr sz="1800">
                <a:solidFill>
                  <a:srgbClr val="6B7280"/>
                </a:solidFill>
                <a:latin typeface="Calibri"/>
              </a:rPr>
              <a:t>•  Submission volume grew +6.4% by count and +6.0% by value over the review period, with a seasonal peak in December 2025.</a:t>
            </a:r>
          </a:p>
          <a:p>
            <a:pPr>
              <a:spcAft>
                <a:spcPts val="600"/>
              </a:spcAft>
            </a:pPr>
            <a:r>
              <a:rPr sz="1800">
                <a:solidFill>
                  <a:srgbClr val="6B7280"/>
                </a:solidFill>
                <a:latin typeface="Calibri"/>
              </a:rPr>
              <a:t>•  Approval rate improved +1.3% (count) and +1.4% (value), reaching near-period-high levels of 98.15% and 97.33% respectively by June 2026.</a:t>
            </a:r>
          </a:p>
          <a:p>
            <a:pPr>
              <a:spcAft>
                <a:spcPts val="600"/>
              </a:spcAft>
            </a:pPr>
            <a:r>
              <a:rPr sz="1800">
                <a:solidFill>
                  <a:srgbClr val="6B7280"/>
                </a:solidFill>
                <a:latin typeface="Calibri"/>
              </a:rPr>
              <a:t>•  Accepted chargeback rate declined meaningfully — down 8.9% by count and 18.8% by value — reflecting a healthier approved-order mix.</a:t>
            </a:r>
          </a:p>
          <a:p>
            <a:pPr>
              <a:spcAft>
                <a:spcPts val="600"/>
              </a:spcAft>
            </a:pPr>
            <a:r>
              <a:rPr sz="1800">
                <a:solidFill>
                  <a:srgbClr val="6B7280"/>
                </a:solidFill>
                <a:latin typeface="Calibri"/>
              </a:rPr>
              <a:t>•  Effective fraud rate trended in the right direction, falling 4.9% by count and 5.0% by value despite a noted high-fraud episode in January 2026.</a:t>
            </a:r>
          </a:p>
          <a:p>
            <a:pPr>
              <a:spcAft>
                <a:spcPts val="600"/>
              </a:spcAft>
            </a:pPr>
            <a:r>
              <a:rPr sz="1800">
                <a:solidFill>
                  <a:srgbClr val="6B7280"/>
                </a:solidFill>
                <a:latin typeface="Calibri"/>
              </a:rPr>
              <a:t>•  Overall, ACME's key risk and approval metrics moved favorably across the period, ending June 2026 at or near their best levels.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640080"/>
          </a:xfrm>
          <a:prstGeom prst="rect">
            <a:avLst/>
          </a:prstGeom>
          <a:noFill/>
        </p:spPr>
        <p:txBody>
          <a:bodyPr wrap="square">
            <a:spAutoFit/>
          </a:bodyPr>
          <a:lstStyle/>
          <a:p>
            <a:pPr algn="l"/>
            <a:r>
              <a:rPr sz="2600" b="1">
                <a:solidFill>
                  <a:srgbClr val="0B2545"/>
                </a:solidFill>
                <a:latin typeface="Calibri"/>
              </a:rPr>
              <a:t>Submission Volume</a:t>
            </a:r>
          </a:p>
        </p:txBody>
      </p:sp>
      <p:sp>
        <p:nvSpPr>
          <p:cNvPr id="3" name="TextBox 2"/>
          <p:cNvSpPr txBox="1"/>
          <p:nvPr/>
        </p:nvSpPr>
        <p:spPr>
          <a:xfrm>
            <a:off x="566928" y="914400"/>
            <a:ext cx="8229600" cy="365760"/>
          </a:xfrm>
          <a:prstGeom prst="rect">
            <a:avLst/>
          </a:prstGeom>
          <a:noFill/>
        </p:spPr>
        <p:txBody>
          <a:bodyPr wrap="square">
            <a:spAutoFit/>
          </a:bodyPr>
          <a:lstStyle/>
          <a:p>
            <a:pPr algn="l"/>
            <a:r>
              <a:rPr sz="1200" b="0">
                <a:solidFill>
                  <a:srgbClr val="6B7280"/>
                </a:solidFill>
                <a:latin typeface="Calibri"/>
              </a:rPr>
              <a:t>transaction volume</a:t>
            </a:r>
          </a:p>
        </p:txBody>
      </p:sp>
      <p:pic>
        <p:nvPicPr>
          <p:cNvPr id="4" name="Picture 3" descr="riskified_logo.png"/>
          <p:cNvPicPr>
            <a:picLocks noChangeAspect="1"/>
          </p:cNvPicPr>
          <p:nvPr/>
        </p:nvPicPr>
        <p:blipFill>
          <a:blip r:embed="rId2"/>
          <a:stretch>
            <a:fillRect/>
          </a:stretch>
        </p:blipFill>
        <p:spPr>
          <a:xfrm>
            <a:off x="11109960" y="320040"/>
            <a:ext cx="956756" cy="274320"/>
          </a:xfrm>
          <a:prstGeom prst="rect">
            <a:avLst/>
          </a:prstGeom>
        </p:spPr>
      </p:pic>
      <p:sp>
        <p:nvSpPr>
          <p:cNvPr id="5" name="Rounded Rectangle 4"/>
          <p:cNvSpPr/>
          <p:nvPr/>
        </p:nvSpPr>
        <p:spPr>
          <a:xfrm>
            <a:off x="548640"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a:t>
            </a:r>
          </a:p>
          <a:p>
            <a:r>
              <a:rPr sz="2000" b="1">
                <a:solidFill>
                  <a:srgbClr val="0B2545"/>
                </a:solidFill>
                <a:latin typeface="Calibri"/>
              </a:rPr>
              <a:t>4,876</a:t>
            </a:r>
          </a:p>
          <a:p>
            <a:r>
              <a:rPr sz="1000">
                <a:solidFill>
                  <a:srgbClr val="6B7280"/>
                </a:solidFill>
                <a:latin typeface="Calibri"/>
              </a:rPr>
              <a:t>2026-06</a:t>
            </a:r>
          </a:p>
        </p:txBody>
      </p:sp>
      <p:sp>
        <p:nvSpPr>
          <p:cNvPr id="6" name="Rounded Rectangle 5"/>
          <p:cNvSpPr/>
          <p:nvPr/>
        </p:nvSpPr>
        <p:spPr>
          <a:xfrm>
            <a:off x="3390138"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Change since start</a:t>
            </a:r>
          </a:p>
          <a:p>
            <a:r>
              <a:rPr sz="2000" b="1">
                <a:solidFill>
                  <a:srgbClr val="0B2545"/>
                </a:solidFill>
                <a:latin typeface="Calibri"/>
              </a:rPr>
              <a:t>+6.4%</a:t>
            </a:r>
          </a:p>
          <a:p>
            <a:r>
              <a:rPr sz="1000">
                <a:solidFill>
                  <a:srgbClr val="6B7280"/>
                </a:solidFill>
                <a:latin typeface="Calibri"/>
              </a:rPr>
              <a:t>vs first month</a:t>
            </a:r>
          </a:p>
        </p:txBody>
      </p:sp>
      <p:sp>
        <p:nvSpPr>
          <p:cNvPr id="7" name="Rounded Rectangle 6"/>
          <p:cNvSpPr/>
          <p:nvPr/>
        </p:nvSpPr>
        <p:spPr>
          <a:xfrm>
            <a:off x="6231636"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 quarter</a:t>
            </a:r>
          </a:p>
          <a:p>
            <a:r>
              <a:rPr sz="2000" b="1">
                <a:solidFill>
                  <a:srgbClr val="0B2545"/>
                </a:solidFill>
                <a:latin typeface="Calibri"/>
              </a:rPr>
              <a:t>12,846</a:t>
            </a:r>
          </a:p>
          <a:p>
            <a:r>
              <a:rPr sz="1000">
                <a:solidFill>
                  <a:srgbClr val="6B7280"/>
                </a:solidFill>
                <a:latin typeface="Calibri"/>
              </a:rPr>
              <a:t>2026-Q2</a:t>
            </a:r>
          </a:p>
        </p:txBody>
      </p:sp>
      <p:sp>
        <p:nvSpPr>
          <p:cNvPr id="8" name="Rounded Rectangle 7"/>
          <p:cNvSpPr/>
          <p:nvPr/>
        </p:nvSpPr>
        <p:spPr>
          <a:xfrm>
            <a:off x="9073134"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Submitted value</a:t>
            </a:r>
          </a:p>
          <a:p>
            <a:r>
              <a:rPr sz="2000" b="1">
                <a:solidFill>
                  <a:srgbClr val="2E6FB7"/>
                </a:solidFill>
                <a:latin typeface="Calibri"/>
              </a:rPr>
              <a:t>$4,304,316</a:t>
            </a:r>
          </a:p>
          <a:p>
            <a:r>
              <a:rPr sz="1000">
                <a:solidFill>
                  <a:srgbClr val="6B7280"/>
                </a:solidFill>
                <a:latin typeface="Calibri"/>
              </a:rPr>
              <a:t>2026-06</a:t>
            </a:r>
          </a:p>
        </p:txBody>
      </p:sp>
      <p:pic>
        <p:nvPicPr>
          <p:cNvPr id="9" name="Picture 8" descr="submission_volume_monthly.png"/>
          <p:cNvPicPr>
            <a:picLocks noChangeAspect="1"/>
          </p:cNvPicPr>
          <p:nvPr/>
        </p:nvPicPr>
        <p:blipFill>
          <a:blip r:embed="rId3"/>
          <a:stretch>
            <a:fillRect/>
          </a:stretch>
        </p:blipFill>
        <p:spPr>
          <a:xfrm>
            <a:off x="457200" y="2514600"/>
            <a:ext cx="5394960" cy="2825931"/>
          </a:xfrm>
          <a:prstGeom prst="rect">
            <a:avLst/>
          </a:prstGeom>
        </p:spPr>
      </p:pic>
      <p:pic>
        <p:nvPicPr>
          <p:cNvPr id="10" name="Picture 9" descr="submission_volume_quarterly.png"/>
          <p:cNvPicPr>
            <a:picLocks noChangeAspect="1"/>
          </p:cNvPicPr>
          <p:nvPr/>
        </p:nvPicPr>
        <p:blipFill>
          <a:blip r:embed="rId4"/>
          <a:stretch>
            <a:fillRect/>
          </a:stretch>
        </p:blipFill>
        <p:spPr>
          <a:xfrm>
            <a:off x="6355080" y="2514600"/>
            <a:ext cx="5394960" cy="2825931"/>
          </a:xfrm>
          <a:prstGeom prst="rect">
            <a:avLst/>
          </a:prstGeom>
        </p:spPr>
      </p:pic>
      <p:sp>
        <p:nvSpPr>
          <p:cNvPr id="11" name="TextBox 10"/>
          <p:cNvSpPr txBox="1"/>
          <p:nvPr/>
        </p:nvSpPr>
        <p:spPr>
          <a:xfrm>
            <a:off x="548640" y="5440680"/>
            <a:ext cx="11064240" cy="1280160"/>
          </a:xfrm>
          <a:prstGeom prst="rect">
            <a:avLst/>
          </a:prstGeom>
          <a:noFill/>
        </p:spPr>
        <p:txBody>
          <a:bodyPr wrap="square">
            <a:spAutoFit/>
          </a:bodyPr>
          <a:lstStyle/>
          <a:p>
            <a:pPr algn="l"/>
            <a:r>
              <a:rPr sz="1300" b="0">
                <a:solidFill>
                  <a:srgbClr val="6B7280"/>
                </a:solidFill>
                <a:latin typeface="Calibri"/>
              </a:rPr>
              <a:t>Submission volume grew from 4,584 transactions ($4,061,436) in July 2025 to 4,876 transactions ($4,304,316) in June 2026, representing increases of +6.4% and +6.0% respectively. The count-based peak of 5,378 in December 2025 coincides with the noted Peak Season event, while the trough of 3,438 in February 2026 coincides with the Low Volume event flagged for that month. The overall upward trajectory across the period is a positive indicator of business growth.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640080"/>
          </a:xfrm>
          <a:prstGeom prst="rect">
            <a:avLst/>
          </a:prstGeom>
          <a:noFill/>
        </p:spPr>
        <p:txBody>
          <a:bodyPr wrap="square">
            <a:spAutoFit/>
          </a:bodyPr>
          <a:lstStyle/>
          <a:p>
            <a:pPr algn="l"/>
            <a:r>
              <a:rPr sz="2600" b="1">
                <a:solidFill>
                  <a:srgbClr val="0B2545"/>
                </a:solidFill>
                <a:latin typeface="Calibri"/>
              </a:rPr>
              <a:t>Approval Rate</a:t>
            </a:r>
          </a:p>
        </p:txBody>
      </p:sp>
      <p:sp>
        <p:nvSpPr>
          <p:cNvPr id="3" name="TextBox 2"/>
          <p:cNvSpPr txBox="1"/>
          <p:nvPr/>
        </p:nvSpPr>
        <p:spPr>
          <a:xfrm>
            <a:off x="566928" y="914400"/>
            <a:ext cx="8229600" cy="365760"/>
          </a:xfrm>
          <a:prstGeom prst="rect">
            <a:avLst/>
          </a:prstGeom>
          <a:noFill/>
        </p:spPr>
        <p:txBody>
          <a:bodyPr wrap="square">
            <a:spAutoFit/>
          </a:bodyPr>
          <a:lstStyle/>
          <a:p>
            <a:pPr algn="l"/>
            <a:r>
              <a:rPr sz="1200" b="0">
                <a:solidFill>
                  <a:srgbClr val="6B7280"/>
                </a:solidFill>
                <a:latin typeface="Calibri"/>
              </a:rPr>
              <a:t>higher is better</a:t>
            </a:r>
          </a:p>
        </p:txBody>
      </p:sp>
      <p:pic>
        <p:nvPicPr>
          <p:cNvPr id="4" name="Picture 3" descr="riskified_logo.png"/>
          <p:cNvPicPr>
            <a:picLocks noChangeAspect="1"/>
          </p:cNvPicPr>
          <p:nvPr/>
        </p:nvPicPr>
        <p:blipFill>
          <a:blip r:embed="rId2"/>
          <a:stretch>
            <a:fillRect/>
          </a:stretch>
        </p:blipFill>
        <p:spPr>
          <a:xfrm>
            <a:off x="11109960" y="320040"/>
            <a:ext cx="956756" cy="274320"/>
          </a:xfrm>
          <a:prstGeom prst="rect">
            <a:avLst/>
          </a:prstGeom>
        </p:spPr>
      </p:pic>
      <p:sp>
        <p:nvSpPr>
          <p:cNvPr id="5" name="Rounded Rectangle 4"/>
          <p:cNvSpPr/>
          <p:nvPr/>
        </p:nvSpPr>
        <p:spPr>
          <a:xfrm>
            <a:off x="548640"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a:t>
            </a:r>
          </a:p>
          <a:p>
            <a:r>
              <a:rPr sz="2000" b="1">
                <a:solidFill>
                  <a:srgbClr val="1B998B"/>
                </a:solidFill>
                <a:latin typeface="Calibri"/>
              </a:rPr>
              <a:t>98.15%</a:t>
            </a:r>
          </a:p>
          <a:p>
            <a:r>
              <a:rPr sz="1000">
                <a:solidFill>
                  <a:srgbClr val="6B7280"/>
                </a:solidFill>
                <a:latin typeface="Calibri"/>
              </a:rPr>
              <a:t>2026-06</a:t>
            </a:r>
          </a:p>
        </p:txBody>
      </p:sp>
      <p:sp>
        <p:nvSpPr>
          <p:cNvPr id="6" name="Rounded Rectangle 5"/>
          <p:cNvSpPr/>
          <p:nvPr/>
        </p:nvSpPr>
        <p:spPr>
          <a:xfrm>
            <a:off x="3390138"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Change since start</a:t>
            </a:r>
          </a:p>
          <a:p>
            <a:r>
              <a:rPr sz="2000" b="1">
                <a:solidFill>
                  <a:srgbClr val="1B998B"/>
                </a:solidFill>
                <a:latin typeface="Calibri"/>
              </a:rPr>
              <a:t>+1.3%</a:t>
            </a:r>
          </a:p>
          <a:p>
            <a:r>
              <a:rPr sz="1000">
                <a:solidFill>
                  <a:srgbClr val="6B7280"/>
                </a:solidFill>
                <a:latin typeface="Calibri"/>
              </a:rPr>
              <a:t>vs first month</a:t>
            </a:r>
          </a:p>
        </p:txBody>
      </p:sp>
      <p:sp>
        <p:nvSpPr>
          <p:cNvPr id="7" name="Rounded Rectangle 6"/>
          <p:cNvSpPr/>
          <p:nvPr/>
        </p:nvSpPr>
        <p:spPr>
          <a:xfrm>
            <a:off x="6231636"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 quarter</a:t>
            </a:r>
          </a:p>
          <a:p>
            <a:r>
              <a:rPr sz="2000" b="1">
                <a:solidFill>
                  <a:srgbClr val="0B2545"/>
                </a:solidFill>
                <a:latin typeface="Calibri"/>
              </a:rPr>
              <a:t>98.37%</a:t>
            </a:r>
          </a:p>
          <a:p>
            <a:r>
              <a:rPr sz="1000">
                <a:solidFill>
                  <a:srgbClr val="6B7280"/>
                </a:solidFill>
                <a:latin typeface="Calibri"/>
              </a:rPr>
              <a:t>2026-Q2</a:t>
            </a:r>
          </a:p>
        </p:txBody>
      </p:sp>
      <p:sp>
        <p:nvSpPr>
          <p:cNvPr id="8" name="Rounded Rectangle 7"/>
          <p:cNvSpPr/>
          <p:nvPr/>
        </p:nvSpPr>
        <p:spPr>
          <a:xfrm>
            <a:off x="9073134"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Amount-weighted latest</a:t>
            </a:r>
          </a:p>
          <a:p>
            <a:r>
              <a:rPr sz="2000" b="1">
                <a:solidFill>
                  <a:srgbClr val="2E6FB7"/>
                </a:solidFill>
                <a:latin typeface="Calibri"/>
              </a:rPr>
              <a:t>97.33%</a:t>
            </a:r>
          </a:p>
          <a:p>
            <a:r>
              <a:rPr sz="1000">
                <a:solidFill>
                  <a:srgbClr val="6B7280"/>
                </a:solidFill>
                <a:latin typeface="Calibri"/>
              </a:rPr>
              <a:t>2026-06</a:t>
            </a:r>
          </a:p>
        </p:txBody>
      </p:sp>
      <p:pic>
        <p:nvPicPr>
          <p:cNvPr id="9" name="Picture 8" descr="approval_rate_monthly.png"/>
          <p:cNvPicPr>
            <a:picLocks noChangeAspect="1"/>
          </p:cNvPicPr>
          <p:nvPr/>
        </p:nvPicPr>
        <p:blipFill>
          <a:blip r:embed="rId3"/>
          <a:stretch>
            <a:fillRect/>
          </a:stretch>
        </p:blipFill>
        <p:spPr>
          <a:xfrm>
            <a:off x="457200" y="2514600"/>
            <a:ext cx="5394960" cy="2825931"/>
          </a:xfrm>
          <a:prstGeom prst="rect">
            <a:avLst/>
          </a:prstGeom>
        </p:spPr>
      </p:pic>
      <p:pic>
        <p:nvPicPr>
          <p:cNvPr id="10" name="Picture 9" descr="approval_rate_quarterly.png"/>
          <p:cNvPicPr>
            <a:picLocks noChangeAspect="1"/>
          </p:cNvPicPr>
          <p:nvPr/>
        </p:nvPicPr>
        <p:blipFill>
          <a:blip r:embed="rId4"/>
          <a:stretch>
            <a:fillRect/>
          </a:stretch>
        </p:blipFill>
        <p:spPr>
          <a:xfrm>
            <a:off x="6355080" y="2514600"/>
            <a:ext cx="5394960" cy="2825931"/>
          </a:xfrm>
          <a:prstGeom prst="rect">
            <a:avLst/>
          </a:prstGeom>
        </p:spPr>
      </p:pic>
      <p:sp>
        <p:nvSpPr>
          <p:cNvPr id="11" name="TextBox 10"/>
          <p:cNvSpPr txBox="1"/>
          <p:nvPr/>
        </p:nvSpPr>
        <p:spPr>
          <a:xfrm>
            <a:off x="548640" y="5440680"/>
            <a:ext cx="11064240" cy="1280160"/>
          </a:xfrm>
          <a:prstGeom prst="rect">
            <a:avLst/>
          </a:prstGeom>
          <a:noFill/>
        </p:spPr>
        <p:txBody>
          <a:bodyPr wrap="square">
            <a:spAutoFit/>
          </a:bodyPr>
          <a:lstStyle/>
          <a:p>
            <a:pPr algn="l"/>
            <a:r>
              <a:rPr sz="1300" b="0">
                <a:solidFill>
                  <a:srgbClr val="6B7280"/>
                </a:solidFill>
                <a:latin typeface="Calibri"/>
              </a:rPr>
              <a:t>Approval rate improved steadily over the review period, rising from 96.84% to 98.15% on a count basis (+1.3%) and from 96.00% to 97.33% on a value-weighted basis (+1.4%). The period low of 96.54% in January 2026 coincides with the High Fraud event, which is consistent with a more challenging order mix during that month. By April 2026, the count-based rate reached its period high of 98.66%, and June 2026 levels remain close to that peak, suggesting a sustained positive trend.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640080"/>
          </a:xfrm>
          <a:prstGeom prst="rect">
            <a:avLst/>
          </a:prstGeom>
          <a:noFill/>
        </p:spPr>
        <p:txBody>
          <a:bodyPr wrap="square">
            <a:spAutoFit/>
          </a:bodyPr>
          <a:lstStyle/>
          <a:p>
            <a:pPr algn="l"/>
            <a:r>
              <a:rPr sz="2600" b="1">
                <a:solidFill>
                  <a:srgbClr val="0B2545"/>
                </a:solidFill>
                <a:latin typeface="Calibri"/>
              </a:rPr>
              <a:t>Accepted Chargeback Rate</a:t>
            </a:r>
          </a:p>
        </p:txBody>
      </p:sp>
      <p:sp>
        <p:nvSpPr>
          <p:cNvPr id="3" name="TextBox 2"/>
          <p:cNvSpPr txBox="1"/>
          <p:nvPr/>
        </p:nvSpPr>
        <p:spPr>
          <a:xfrm>
            <a:off x="566928" y="914400"/>
            <a:ext cx="8229600" cy="365760"/>
          </a:xfrm>
          <a:prstGeom prst="rect">
            <a:avLst/>
          </a:prstGeom>
          <a:noFill/>
        </p:spPr>
        <p:txBody>
          <a:bodyPr wrap="square">
            <a:spAutoFit/>
          </a:bodyPr>
          <a:lstStyle/>
          <a:p>
            <a:pPr algn="l"/>
            <a:r>
              <a:rPr sz="1200" b="0">
                <a:solidFill>
                  <a:srgbClr val="6B7280"/>
                </a:solidFill>
                <a:latin typeface="Calibri"/>
              </a:rPr>
              <a:t>lower is better</a:t>
            </a:r>
          </a:p>
        </p:txBody>
      </p:sp>
      <p:pic>
        <p:nvPicPr>
          <p:cNvPr id="4" name="Picture 3" descr="riskified_logo.png"/>
          <p:cNvPicPr>
            <a:picLocks noChangeAspect="1"/>
          </p:cNvPicPr>
          <p:nvPr/>
        </p:nvPicPr>
        <p:blipFill>
          <a:blip r:embed="rId2"/>
          <a:stretch>
            <a:fillRect/>
          </a:stretch>
        </p:blipFill>
        <p:spPr>
          <a:xfrm>
            <a:off x="11109960" y="320040"/>
            <a:ext cx="956756" cy="274320"/>
          </a:xfrm>
          <a:prstGeom prst="rect">
            <a:avLst/>
          </a:prstGeom>
        </p:spPr>
      </p:pic>
      <p:sp>
        <p:nvSpPr>
          <p:cNvPr id="5" name="Rounded Rectangle 4"/>
          <p:cNvSpPr/>
          <p:nvPr/>
        </p:nvSpPr>
        <p:spPr>
          <a:xfrm>
            <a:off x="548640"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a:t>
            </a:r>
          </a:p>
          <a:p>
            <a:r>
              <a:rPr sz="2000" b="1">
                <a:solidFill>
                  <a:srgbClr val="1B998B"/>
                </a:solidFill>
                <a:latin typeface="Calibri"/>
              </a:rPr>
              <a:t>0.12%</a:t>
            </a:r>
          </a:p>
          <a:p>
            <a:r>
              <a:rPr sz="1000">
                <a:solidFill>
                  <a:srgbClr val="6B7280"/>
                </a:solidFill>
                <a:latin typeface="Calibri"/>
              </a:rPr>
              <a:t>2026-06</a:t>
            </a:r>
          </a:p>
        </p:txBody>
      </p:sp>
      <p:sp>
        <p:nvSpPr>
          <p:cNvPr id="6" name="Rounded Rectangle 5"/>
          <p:cNvSpPr/>
          <p:nvPr/>
        </p:nvSpPr>
        <p:spPr>
          <a:xfrm>
            <a:off x="3390138"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Change since start</a:t>
            </a:r>
          </a:p>
          <a:p>
            <a:r>
              <a:rPr sz="2000" b="1">
                <a:solidFill>
                  <a:srgbClr val="1B998B"/>
                </a:solidFill>
                <a:latin typeface="Calibri"/>
              </a:rPr>
              <a:t>-8.9%</a:t>
            </a:r>
          </a:p>
          <a:p>
            <a:r>
              <a:rPr sz="1000">
                <a:solidFill>
                  <a:srgbClr val="6B7280"/>
                </a:solidFill>
                <a:latin typeface="Calibri"/>
              </a:rPr>
              <a:t>vs first month</a:t>
            </a:r>
          </a:p>
        </p:txBody>
      </p:sp>
      <p:sp>
        <p:nvSpPr>
          <p:cNvPr id="7" name="Rounded Rectangle 6"/>
          <p:cNvSpPr/>
          <p:nvPr/>
        </p:nvSpPr>
        <p:spPr>
          <a:xfrm>
            <a:off x="6231636"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 quarter</a:t>
            </a:r>
          </a:p>
          <a:p>
            <a:r>
              <a:rPr sz="2000" b="1">
                <a:solidFill>
                  <a:srgbClr val="0B2545"/>
                </a:solidFill>
                <a:latin typeface="Calibri"/>
              </a:rPr>
              <a:t>0.11%</a:t>
            </a:r>
          </a:p>
          <a:p>
            <a:r>
              <a:rPr sz="1000">
                <a:solidFill>
                  <a:srgbClr val="6B7280"/>
                </a:solidFill>
                <a:latin typeface="Calibri"/>
              </a:rPr>
              <a:t>2026-Q2</a:t>
            </a:r>
          </a:p>
        </p:txBody>
      </p:sp>
      <p:sp>
        <p:nvSpPr>
          <p:cNvPr id="8" name="Rounded Rectangle 7"/>
          <p:cNvSpPr/>
          <p:nvPr/>
        </p:nvSpPr>
        <p:spPr>
          <a:xfrm>
            <a:off x="9073134"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Amount-weighted latest</a:t>
            </a:r>
          </a:p>
          <a:p>
            <a:r>
              <a:rPr sz="2000" b="1">
                <a:solidFill>
                  <a:srgbClr val="2E6FB7"/>
                </a:solidFill>
                <a:latin typeface="Calibri"/>
              </a:rPr>
              <a:t>0.08%</a:t>
            </a:r>
          </a:p>
          <a:p>
            <a:r>
              <a:rPr sz="1000">
                <a:solidFill>
                  <a:srgbClr val="6B7280"/>
                </a:solidFill>
                <a:latin typeface="Calibri"/>
              </a:rPr>
              <a:t>2026-06</a:t>
            </a:r>
          </a:p>
        </p:txBody>
      </p:sp>
      <p:pic>
        <p:nvPicPr>
          <p:cNvPr id="9" name="Picture 8" descr="accepted_chargeback_rate_monthly.png"/>
          <p:cNvPicPr>
            <a:picLocks noChangeAspect="1"/>
          </p:cNvPicPr>
          <p:nvPr/>
        </p:nvPicPr>
        <p:blipFill>
          <a:blip r:embed="rId3"/>
          <a:stretch>
            <a:fillRect/>
          </a:stretch>
        </p:blipFill>
        <p:spPr>
          <a:xfrm>
            <a:off x="457200" y="2514600"/>
            <a:ext cx="5394960" cy="2825931"/>
          </a:xfrm>
          <a:prstGeom prst="rect">
            <a:avLst/>
          </a:prstGeom>
        </p:spPr>
      </p:pic>
      <p:pic>
        <p:nvPicPr>
          <p:cNvPr id="10" name="Picture 9" descr="accepted_chargeback_rate_quarterly.png"/>
          <p:cNvPicPr>
            <a:picLocks noChangeAspect="1"/>
          </p:cNvPicPr>
          <p:nvPr/>
        </p:nvPicPr>
        <p:blipFill>
          <a:blip r:embed="rId4"/>
          <a:stretch>
            <a:fillRect/>
          </a:stretch>
        </p:blipFill>
        <p:spPr>
          <a:xfrm>
            <a:off x="6355080" y="2514600"/>
            <a:ext cx="5394960" cy="2825931"/>
          </a:xfrm>
          <a:prstGeom prst="rect">
            <a:avLst/>
          </a:prstGeom>
        </p:spPr>
      </p:pic>
      <p:sp>
        <p:nvSpPr>
          <p:cNvPr id="11" name="TextBox 10"/>
          <p:cNvSpPr txBox="1"/>
          <p:nvPr/>
        </p:nvSpPr>
        <p:spPr>
          <a:xfrm>
            <a:off x="548640" y="5440680"/>
            <a:ext cx="11064240" cy="1280160"/>
          </a:xfrm>
          <a:prstGeom prst="rect">
            <a:avLst/>
          </a:prstGeom>
          <a:noFill/>
        </p:spPr>
        <p:txBody>
          <a:bodyPr wrap="square">
            <a:spAutoFit/>
          </a:bodyPr>
          <a:lstStyle/>
          <a:p>
            <a:pPr algn="l"/>
            <a:r>
              <a:rPr sz="1300" b="0">
                <a:solidFill>
                  <a:srgbClr val="6B7280"/>
                </a:solidFill>
                <a:latin typeface="Calibri"/>
              </a:rPr>
              <a:t>The accepted chargeback rate declined from 0.13% to 0.12% by count (−8.9%) and from 0.10% to 0.08% by value (−18.8%), with the value-weighted improvement being particularly notable. The February 2026 period best of 0.09% (count-based) coincides with the Low Volume event, which may indicate a shift in order mix during that month. The overall downward direction across both views is a favorable outcome, suggesting the approved portfolio is carrying lower chargeback exposure over time.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8229600" cy="640080"/>
          </a:xfrm>
          <a:prstGeom prst="rect">
            <a:avLst/>
          </a:prstGeom>
          <a:noFill/>
        </p:spPr>
        <p:txBody>
          <a:bodyPr wrap="square">
            <a:spAutoFit/>
          </a:bodyPr>
          <a:lstStyle/>
          <a:p>
            <a:pPr algn="l"/>
            <a:r>
              <a:rPr sz="2600" b="1">
                <a:solidFill>
                  <a:srgbClr val="0B2545"/>
                </a:solidFill>
                <a:latin typeface="Calibri"/>
              </a:rPr>
              <a:t>Effective Fraud Rate</a:t>
            </a:r>
          </a:p>
        </p:txBody>
      </p:sp>
      <p:sp>
        <p:nvSpPr>
          <p:cNvPr id="3" name="TextBox 2"/>
          <p:cNvSpPr txBox="1"/>
          <p:nvPr/>
        </p:nvSpPr>
        <p:spPr>
          <a:xfrm>
            <a:off x="566928" y="914400"/>
            <a:ext cx="8229600" cy="365760"/>
          </a:xfrm>
          <a:prstGeom prst="rect">
            <a:avLst/>
          </a:prstGeom>
          <a:noFill/>
        </p:spPr>
        <p:txBody>
          <a:bodyPr wrap="square">
            <a:spAutoFit/>
          </a:bodyPr>
          <a:lstStyle/>
          <a:p>
            <a:pPr algn="l"/>
            <a:r>
              <a:rPr sz="1200" b="0">
                <a:solidFill>
                  <a:srgbClr val="6B7280"/>
                </a:solidFill>
                <a:latin typeface="Calibri"/>
              </a:rPr>
              <a:t>lower is better</a:t>
            </a:r>
          </a:p>
        </p:txBody>
      </p:sp>
      <p:pic>
        <p:nvPicPr>
          <p:cNvPr id="4" name="Picture 3" descr="riskified_logo.png"/>
          <p:cNvPicPr>
            <a:picLocks noChangeAspect="1"/>
          </p:cNvPicPr>
          <p:nvPr/>
        </p:nvPicPr>
        <p:blipFill>
          <a:blip r:embed="rId2"/>
          <a:stretch>
            <a:fillRect/>
          </a:stretch>
        </p:blipFill>
        <p:spPr>
          <a:xfrm>
            <a:off x="11109960" y="320040"/>
            <a:ext cx="956756" cy="274320"/>
          </a:xfrm>
          <a:prstGeom prst="rect">
            <a:avLst/>
          </a:prstGeom>
        </p:spPr>
      </p:pic>
      <p:sp>
        <p:nvSpPr>
          <p:cNvPr id="5" name="Rounded Rectangle 4"/>
          <p:cNvSpPr/>
          <p:nvPr/>
        </p:nvSpPr>
        <p:spPr>
          <a:xfrm>
            <a:off x="548640"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a:t>
            </a:r>
          </a:p>
          <a:p>
            <a:r>
              <a:rPr sz="2000" b="1">
                <a:solidFill>
                  <a:srgbClr val="1B998B"/>
                </a:solidFill>
                <a:latin typeface="Calibri"/>
              </a:rPr>
              <a:t>1.80%</a:t>
            </a:r>
          </a:p>
          <a:p>
            <a:r>
              <a:rPr sz="1000">
                <a:solidFill>
                  <a:srgbClr val="6B7280"/>
                </a:solidFill>
                <a:latin typeface="Calibri"/>
              </a:rPr>
              <a:t>2026-06</a:t>
            </a:r>
          </a:p>
        </p:txBody>
      </p:sp>
      <p:sp>
        <p:nvSpPr>
          <p:cNvPr id="6" name="Rounded Rectangle 5"/>
          <p:cNvSpPr/>
          <p:nvPr/>
        </p:nvSpPr>
        <p:spPr>
          <a:xfrm>
            <a:off x="3390138"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Change since start</a:t>
            </a:r>
          </a:p>
          <a:p>
            <a:r>
              <a:rPr sz="2000" b="1">
                <a:solidFill>
                  <a:srgbClr val="1B998B"/>
                </a:solidFill>
                <a:latin typeface="Calibri"/>
              </a:rPr>
              <a:t>-4.9%</a:t>
            </a:r>
          </a:p>
          <a:p>
            <a:r>
              <a:rPr sz="1000">
                <a:solidFill>
                  <a:srgbClr val="6B7280"/>
                </a:solidFill>
                <a:latin typeface="Calibri"/>
              </a:rPr>
              <a:t>vs first month</a:t>
            </a:r>
          </a:p>
        </p:txBody>
      </p:sp>
      <p:sp>
        <p:nvSpPr>
          <p:cNvPr id="7" name="Rounded Rectangle 6"/>
          <p:cNvSpPr/>
          <p:nvPr/>
        </p:nvSpPr>
        <p:spPr>
          <a:xfrm>
            <a:off x="6231636"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Latest quarter</a:t>
            </a:r>
          </a:p>
          <a:p>
            <a:r>
              <a:rPr sz="2000" b="1">
                <a:solidFill>
                  <a:srgbClr val="0B2545"/>
                </a:solidFill>
                <a:latin typeface="Calibri"/>
              </a:rPr>
              <a:t>2.23%</a:t>
            </a:r>
          </a:p>
          <a:p>
            <a:r>
              <a:rPr sz="1000">
                <a:solidFill>
                  <a:srgbClr val="6B7280"/>
                </a:solidFill>
                <a:latin typeface="Calibri"/>
              </a:rPr>
              <a:t>2026-Q2</a:t>
            </a:r>
          </a:p>
        </p:txBody>
      </p:sp>
      <p:sp>
        <p:nvSpPr>
          <p:cNvPr id="8" name="Rounded Rectangle 7"/>
          <p:cNvSpPr/>
          <p:nvPr/>
        </p:nvSpPr>
        <p:spPr>
          <a:xfrm>
            <a:off x="9073134" y="1325880"/>
            <a:ext cx="2567178" cy="914400"/>
          </a:xfrm>
          <a:prstGeom prst="round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54864" bIns="54864"/>
          <a:lstStyle/>
          <a:p>
            <a:pPr algn="ctr"/>
            <a:r>
              <a:rPr sz="1000" b="1">
                <a:solidFill>
                  <a:srgbClr val="6B7280"/>
                </a:solidFill>
                <a:latin typeface="Calibri"/>
              </a:rPr>
              <a:t>Amount-weighted latest</a:t>
            </a:r>
          </a:p>
          <a:p>
            <a:r>
              <a:rPr sz="2000" b="1">
                <a:solidFill>
                  <a:srgbClr val="2E6FB7"/>
                </a:solidFill>
                <a:latin typeface="Calibri"/>
              </a:rPr>
              <a:t>3.15%</a:t>
            </a:r>
          </a:p>
          <a:p>
            <a:r>
              <a:rPr sz="1000">
                <a:solidFill>
                  <a:srgbClr val="6B7280"/>
                </a:solidFill>
                <a:latin typeface="Calibri"/>
              </a:rPr>
              <a:t>2026-06</a:t>
            </a:r>
          </a:p>
        </p:txBody>
      </p:sp>
      <p:pic>
        <p:nvPicPr>
          <p:cNvPr id="9" name="Picture 8" descr="effective_fraud_rate_monthly.png"/>
          <p:cNvPicPr>
            <a:picLocks noChangeAspect="1"/>
          </p:cNvPicPr>
          <p:nvPr/>
        </p:nvPicPr>
        <p:blipFill>
          <a:blip r:embed="rId3"/>
          <a:stretch>
            <a:fillRect/>
          </a:stretch>
        </p:blipFill>
        <p:spPr>
          <a:xfrm>
            <a:off x="457200" y="2514600"/>
            <a:ext cx="5394960" cy="2825931"/>
          </a:xfrm>
          <a:prstGeom prst="rect">
            <a:avLst/>
          </a:prstGeom>
        </p:spPr>
      </p:pic>
      <p:pic>
        <p:nvPicPr>
          <p:cNvPr id="10" name="Picture 9" descr="effective_fraud_rate_quarterly.png"/>
          <p:cNvPicPr>
            <a:picLocks noChangeAspect="1"/>
          </p:cNvPicPr>
          <p:nvPr/>
        </p:nvPicPr>
        <p:blipFill>
          <a:blip r:embed="rId4"/>
          <a:stretch>
            <a:fillRect/>
          </a:stretch>
        </p:blipFill>
        <p:spPr>
          <a:xfrm>
            <a:off x="6355080" y="2514600"/>
            <a:ext cx="5394960" cy="2825931"/>
          </a:xfrm>
          <a:prstGeom prst="rect">
            <a:avLst/>
          </a:prstGeom>
        </p:spPr>
      </p:pic>
      <p:sp>
        <p:nvSpPr>
          <p:cNvPr id="11" name="TextBox 10"/>
          <p:cNvSpPr txBox="1"/>
          <p:nvPr/>
        </p:nvSpPr>
        <p:spPr>
          <a:xfrm>
            <a:off x="548640" y="5440680"/>
            <a:ext cx="11064240" cy="1280160"/>
          </a:xfrm>
          <a:prstGeom prst="rect">
            <a:avLst/>
          </a:prstGeom>
          <a:noFill/>
        </p:spPr>
        <p:txBody>
          <a:bodyPr wrap="square">
            <a:spAutoFit/>
          </a:bodyPr>
          <a:lstStyle/>
          <a:p>
            <a:pPr algn="l"/>
            <a:r>
              <a:rPr sz="1300" b="0">
                <a:solidFill>
                  <a:srgbClr val="6B7280"/>
                </a:solidFill>
                <a:latin typeface="Calibri"/>
              </a:rPr>
              <a:t>The effective fraud rate improved from 1.90% to 1.80% by count (−4.9%) and from 3.31% to 3.15% by value (−5.0%) over the review period. The count-based period high of 2.89% in January 2026 coincides with the High Fraud event, which is consistent with elevated fraudulent activity during that window. Despite that spike, the rate recovered and the period closed at its count-based low of 1.80% — matching the December 2025 worst-label figure — suggesting the portfolio returned to a more favorable fraud profile by June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9144000" cy="822960"/>
          </a:xfrm>
          <a:prstGeom prst="rect">
            <a:avLst/>
          </a:prstGeom>
          <a:noFill/>
        </p:spPr>
        <p:txBody>
          <a:bodyPr wrap="square">
            <a:spAutoFit/>
          </a:bodyPr>
          <a:lstStyle/>
          <a:p>
            <a:pPr algn="l"/>
            <a:r>
              <a:rPr sz="2800" b="1">
                <a:solidFill>
                  <a:srgbClr val="0B2545"/>
                </a:solidFill>
                <a:latin typeface="Calibri"/>
              </a:rPr>
              <a:t>Notes &amp; Methodology</a:t>
            </a:r>
          </a:p>
        </p:txBody>
      </p:sp>
      <p:pic>
        <p:nvPicPr>
          <p:cNvPr id="3" name="Picture 2" descr="riskified_logo.png"/>
          <p:cNvPicPr>
            <a:picLocks noChangeAspect="1"/>
          </p:cNvPicPr>
          <p:nvPr/>
        </p:nvPicPr>
        <p:blipFill>
          <a:blip r:embed="rId2"/>
          <a:stretch>
            <a:fillRect/>
          </a:stretch>
        </p:blipFill>
        <p:spPr>
          <a:xfrm>
            <a:off x="11109960" y="320040"/>
            <a:ext cx="956756" cy="274320"/>
          </a:xfrm>
          <a:prstGeom prst="rect">
            <a:avLst/>
          </a:prstGeom>
        </p:spPr>
      </p:pic>
      <p:sp>
        <p:nvSpPr>
          <p:cNvPr id="4" name="TextBox 3"/>
          <p:cNvSpPr txBox="1"/>
          <p:nvPr/>
        </p:nvSpPr>
        <p:spPr>
          <a:xfrm>
            <a:off x="731520" y="1554480"/>
            <a:ext cx="10698480" cy="4572000"/>
          </a:xfrm>
          <a:prstGeom prst="rect">
            <a:avLst/>
          </a:prstGeom>
          <a:noFill/>
        </p:spPr>
        <p:txBody>
          <a:bodyPr wrap="square">
            <a:spAutoFit/>
          </a:bodyPr>
          <a:lstStyle/>
          <a:p>
            <a:pPr>
              <a:spcAft>
                <a:spcPts val="600"/>
              </a:spcAft>
            </a:pPr>
            <a:r>
              <a:rPr sz="1600">
                <a:solidFill>
                  <a:srgbClr val="6B7280"/>
                </a:solidFill>
                <a:latin typeface="Calibri"/>
              </a:rPr>
              <a:t>•  Count-based view: KPIs by transaction volume (number of orders).</a:t>
            </a:r>
          </a:p>
          <a:p>
            <a:pPr>
              <a:spcAft>
                <a:spcPts val="600"/>
              </a:spcAft>
            </a:pPr>
            <a:r>
              <a:rPr sz="1600">
                <a:solidFill>
                  <a:srgbClr val="6B7280"/>
                </a:solidFill>
                <a:latin typeface="Calibri"/>
              </a:rPr>
              <a:t>•  Amount-weighted view: KPIs weighted by submitted order value (Submission Volume is shown in dollars).</a:t>
            </a:r>
          </a:p>
          <a:p>
            <a:pPr>
              <a:spcAft>
                <a:spcPts val="600"/>
              </a:spcAft>
            </a:pPr>
            <a:r>
              <a:rPr sz="1600">
                <a:solidFill>
                  <a:srgbClr val="6B7280"/>
                </a:solidFill>
                <a:latin typeface="Calibri"/>
              </a:rPr>
              <a:t>•  Charts annotate notable evidence events from the period.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